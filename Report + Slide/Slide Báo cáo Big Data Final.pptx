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6"/>
    <p:sldMasterId id="2147483694" r:id="rId7"/>
    <p:sldMasterId id="2147483695" r:id="rId8"/>
    <p:sldMasterId id="2147483696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</p:sldIdLst>
  <p:sldSz cy="5143500" cx="9144000"/>
  <p:notesSz cx="6858000" cy="9144000"/>
  <p:embeddedFontLs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Quoc Trieu"/>
  <p:cmAuthor clrIdx="1" id="1" initials="" lastIdx="2" name="Khởi Nguyê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1CD67D-0AA5-436C-BC13-9E7AA9E68798}">
  <a:tblStyle styleId="{8D1CD67D-0AA5-436C-BC13-9E7AA9E687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0.xml"/><Relationship Id="rId41" Type="http://schemas.openxmlformats.org/officeDocument/2006/relationships/font" Target="fonts/Lato-boldItalic.fntdata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4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2.xml"/><Relationship Id="rId8" Type="http://schemas.openxmlformats.org/officeDocument/2006/relationships/slideMaster" Target="slideMasters/slideMaster3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slide" Target="slides/slide25.xml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37" Type="http://schemas.openxmlformats.org/officeDocument/2006/relationships/slide" Target="slides/slide27.xml"/><Relationship Id="rId14" Type="http://schemas.openxmlformats.org/officeDocument/2006/relationships/slide" Target="slides/slide4.xml"/><Relationship Id="rId36" Type="http://schemas.openxmlformats.org/officeDocument/2006/relationships/slide" Target="slides/slide26.xml"/><Relationship Id="rId17" Type="http://schemas.openxmlformats.org/officeDocument/2006/relationships/slide" Target="slides/slide7.xml"/><Relationship Id="rId39" Type="http://schemas.openxmlformats.org/officeDocument/2006/relationships/font" Target="fonts/Lato-bold.fntdata"/><Relationship Id="rId16" Type="http://schemas.openxmlformats.org/officeDocument/2006/relationships/slide" Target="slides/slide6.xml"/><Relationship Id="rId38" Type="http://schemas.openxmlformats.org/officeDocument/2006/relationships/font" Target="fonts/Lato-regular.fntdata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20T14:56:57.830">
    <p:pos x="170" y="332"/>
    <p:text>Thuộc tính có nhiều hơn nhé @tknguyen.dec23rd@gmail.com. Xem trong report nhé</p:text>
  </p:cm>
  <p:cm authorId="1" idx="1" dt="2025-12-20T14:56:57.830">
    <p:pos x="170" y="332"/>
    <p:text>done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5-12-19T17:00:14.161">
    <p:pos x="6000" y="0"/>
    <p:text>lỡ xoá comment, nhưng cái này t nghĩ done rồi đấy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b06e89109_2_5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3b06e89109_2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06e89109_2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b06e89109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b06e89109_2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3b06e89109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b06e89109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3b06e89109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4491349d5_2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a4491349d5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4489fe01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a4489fe0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4491349d5_2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a4491349d5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24318f43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24318f43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45372956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a453729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24318f43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24318f43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1e4192f0c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b1e4192f0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24318f43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24318f43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ae47fac45_1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aae47fac4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ae47fac45_6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aae47fac45_6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4491349d5_2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3a4491349d5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ae47fac45_6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aae47fac45_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9a13e0af5_5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99a13e0af5_5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4491349d5_2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a4491349d5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24318f43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24318f43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b901b931c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ab901b93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ae47fac45_6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aae47fac45_6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9a13e0af5_5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99a13e0af5_5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4491349d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a4491349d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24318f436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b24318f43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24318f436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b24318f43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b901b931c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ab901b931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b06e89109_2_26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3b06e89109_2_2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32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34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35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5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36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36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36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1" type="subTitle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0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1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41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41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2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3"/>
          <p:cNvSpPr txBox="1"/>
          <p:nvPr>
            <p:ph idx="1" type="subTitle"/>
          </p:nvPr>
        </p:nvSpPr>
        <p:spPr>
          <a:xfrm>
            <a:off x="457110" y="205200"/>
            <a:ext cx="8229330" cy="398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44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44"/>
          <p:cNvSpPr txBox="1"/>
          <p:nvPr>
            <p:ph idx="2" type="body"/>
          </p:nvPr>
        </p:nvSpPr>
        <p:spPr>
          <a:xfrm>
            <a:off x="467397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44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5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45"/>
          <p:cNvSpPr txBox="1"/>
          <p:nvPr>
            <p:ph idx="1" type="body"/>
          </p:nvPr>
        </p:nvSpPr>
        <p:spPr>
          <a:xfrm>
            <a:off x="457110" y="1203390"/>
            <a:ext cx="401571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45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45"/>
          <p:cNvSpPr txBox="1"/>
          <p:nvPr>
            <p:ph idx="3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6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46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46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46"/>
          <p:cNvSpPr txBox="1"/>
          <p:nvPr>
            <p:ph idx="3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47"/>
          <p:cNvSpPr txBox="1"/>
          <p:nvPr>
            <p:ph idx="1" type="body"/>
          </p:nvPr>
        </p:nvSpPr>
        <p:spPr>
          <a:xfrm>
            <a:off x="457110" y="120339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7"/>
          <p:cNvSpPr txBox="1"/>
          <p:nvPr>
            <p:ph idx="2" type="body"/>
          </p:nvPr>
        </p:nvSpPr>
        <p:spPr>
          <a:xfrm>
            <a:off x="457110" y="2761560"/>
            <a:ext cx="822933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8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48"/>
          <p:cNvSpPr txBox="1"/>
          <p:nvPr>
            <p:ph idx="1" type="body"/>
          </p:nvPr>
        </p:nvSpPr>
        <p:spPr>
          <a:xfrm>
            <a:off x="45711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48"/>
          <p:cNvSpPr txBox="1"/>
          <p:nvPr>
            <p:ph idx="2" type="body"/>
          </p:nvPr>
        </p:nvSpPr>
        <p:spPr>
          <a:xfrm>
            <a:off x="4673970" y="120339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48"/>
          <p:cNvSpPr txBox="1"/>
          <p:nvPr>
            <p:ph idx="3" type="body"/>
          </p:nvPr>
        </p:nvSpPr>
        <p:spPr>
          <a:xfrm>
            <a:off x="45711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48"/>
          <p:cNvSpPr txBox="1"/>
          <p:nvPr>
            <p:ph idx="4" type="body"/>
          </p:nvPr>
        </p:nvSpPr>
        <p:spPr>
          <a:xfrm>
            <a:off x="4673970" y="2761560"/>
            <a:ext cx="401571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9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9"/>
          <p:cNvSpPr txBox="1"/>
          <p:nvPr>
            <p:ph idx="1" type="body"/>
          </p:nvPr>
        </p:nvSpPr>
        <p:spPr>
          <a:xfrm>
            <a:off x="45711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1" name="Google Shape;191;p49"/>
          <p:cNvSpPr txBox="1"/>
          <p:nvPr>
            <p:ph idx="2" type="body"/>
          </p:nvPr>
        </p:nvSpPr>
        <p:spPr>
          <a:xfrm>
            <a:off x="323973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49"/>
          <p:cNvSpPr txBox="1"/>
          <p:nvPr>
            <p:ph idx="3" type="body"/>
          </p:nvPr>
        </p:nvSpPr>
        <p:spPr>
          <a:xfrm>
            <a:off x="6022350" y="120339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49"/>
          <p:cNvSpPr txBox="1"/>
          <p:nvPr>
            <p:ph idx="4" type="body"/>
          </p:nvPr>
        </p:nvSpPr>
        <p:spPr>
          <a:xfrm>
            <a:off x="45711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49"/>
          <p:cNvSpPr txBox="1"/>
          <p:nvPr>
            <p:ph idx="5" type="body"/>
          </p:nvPr>
        </p:nvSpPr>
        <p:spPr>
          <a:xfrm>
            <a:off x="323973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49"/>
          <p:cNvSpPr txBox="1"/>
          <p:nvPr>
            <p:ph idx="6" type="body"/>
          </p:nvPr>
        </p:nvSpPr>
        <p:spPr>
          <a:xfrm>
            <a:off x="6022350" y="2761560"/>
            <a:ext cx="2649780" cy="1422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254070" y="794070"/>
            <a:ext cx="8635680" cy="368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type="title"/>
          </p:nvPr>
        </p:nvSpPr>
        <p:spPr>
          <a:xfrm>
            <a:off x="254070" y="84510"/>
            <a:ext cx="863568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/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37"/>
          <p:cNvSpPr txBox="1"/>
          <p:nvPr>
            <p:ph idx="1" type="body"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Relationship Id="rId4" Type="http://schemas.openxmlformats.org/officeDocument/2006/relationships/hyperlink" Target="http://producer.p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influxdb.bigdata.svc.cluster.local:8086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1"/>
          <p:cNvSpPr txBox="1"/>
          <p:nvPr/>
        </p:nvSpPr>
        <p:spPr>
          <a:xfrm>
            <a:off x="367050" y="826950"/>
            <a:ext cx="8409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3200">
                <a:solidFill>
                  <a:srgbClr val="C00000"/>
                </a:solidFill>
              </a:rPr>
              <a:t>Weather Data Analysis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51"/>
          <p:cNvGraphicFramePr/>
          <p:nvPr/>
        </p:nvGraphicFramePr>
        <p:xfrm>
          <a:off x="406450" y="217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{8D1CD67D-0AA5-436C-BC13-9E7AA9E68798}</a:tableStyleId>
              </a:tblPr>
              <a:tblGrid>
                <a:gridCol w="1791975"/>
                <a:gridCol w="179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Trieu Kinh Quoc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20225524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Vu Quoc Dung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20225488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Phung Tien Thanh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20225531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Tran Khoi Nguyen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20225453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Le Minh Hai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/>
                        <a:t>20225491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6" name="Google Shape;206;p51" title="503165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075" y="1796050"/>
            <a:ext cx="4156539" cy="277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Table of contents</a:t>
            </a:r>
            <a:endParaRPr/>
          </a:p>
        </p:txBody>
      </p:sp>
      <p:sp>
        <p:nvSpPr>
          <p:cNvPr id="212" name="Google Shape;212;p52"/>
          <p:cNvSpPr txBox="1"/>
          <p:nvPr/>
        </p:nvSpPr>
        <p:spPr>
          <a:xfrm>
            <a:off x="273750" y="1140300"/>
            <a:ext cx="85965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1. Topic</a:t>
            </a:r>
            <a:r>
              <a:rPr lang="vi" sz="2600"/>
              <a:t> + general pipeline</a:t>
            </a:r>
            <a:endParaRPr sz="2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2. Deployment strategy</a:t>
            </a:r>
            <a:endParaRPr sz="2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3. Details component</a:t>
            </a:r>
            <a:endParaRPr sz="2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4. Lesson learned</a:t>
            </a:r>
            <a:endParaRPr sz="26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2600"/>
              <a:t>5. Live Demo</a:t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Topic + Pipeline</a:t>
            </a:r>
            <a:endParaRPr/>
          </a:p>
        </p:txBody>
      </p:sp>
      <p:sp>
        <p:nvSpPr>
          <p:cNvPr id="218" name="Google Shape;218;p53"/>
          <p:cNvSpPr txBox="1"/>
          <p:nvPr/>
        </p:nvSpPr>
        <p:spPr>
          <a:xfrm>
            <a:off x="270300" y="528450"/>
            <a:ext cx="8603400" cy="4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" sz="1500"/>
              <a:t>Purpose:</a:t>
            </a:r>
            <a:endParaRPr b="1" sz="15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vi" sz="1500">
                <a:solidFill>
                  <a:schemeClr val="dk1"/>
                </a:solidFill>
              </a:rPr>
              <a:t>Collect real-time weather data, store, process, and analyze the data to detect trends, perform short-term forecasting, and enable data visualization.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500">
                <a:solidFill>
                  <a:schemeClr val="dk1"/>
                </a:solidFill>
              </a:rPr>
              <a:t>Properties: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Data source</a:t>
            </a:r>
            <a:r>
              <a:rPr lang="vi" sz="1500">
                <a:solidFill>
                  <a:schemeClr val="dk1"/>
                </a:solidFill>
              </a:rPr>
              <a:t>: Weather API from OpenWeatherMap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Type</a:t>
            </a:r>
            <a:r>
              <a:rPr lang="vi" sz="1500">
                <a:solidFill>
                  <a:schemeClr val="dk1"/>
                </a:solidFill>
              </a:rPr>
              <a:t>: Semi-structured data (JSON)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Contents</a:t>
            </a:r>
            <a:r>
              <a:rPr lang="vi" sz="1500">
                <a:solidFill>
                  <a:schemeClr val="dk1"/>
                </a:solidFill>
              </a:rPr>
              <a:t>: Major weather attributes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vi" sz="1500">
                <a:solidFill>
                  <a:schemeClr val="dk1"/>
                </a:solidFill>
              </a:rPr>
              <a:t>City information: City name, country codes (of the city), date-time (the specific date-time when the data is fetched)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vi" sz="1500">
                <a:solidFill>
                  <a:schemeClr val="dk1"/>
                </a:solidFill>
              </a:rPr>
              <a:t>Temperature, humidity, wind speed and direction, precipitation, cloud cover and visibility, atmospheric pressure</a:t>
            </a:r>
            <a:r>
              <a:rPr lang="vi" sz="1500">
                <a:solidFill>
                  <a:schemeClr val="dk1"/>
                </a:solidFill>
              </a:rPr>
              <a:t>, and rain volume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Taken from Cities</a:t>
            </a:r>
            <a:r>
              <a:rPr lang="vi" sz="1500">
                <a:solidFill>
                  <a:schemeClr val="dk1"/>
                </a:solidFill>
              </a:rPr>
              <a:t>: 20 major global cities around the world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Ingestion rate</a:t>
            </a:r>
            <a:r>
              <a:rPr lang="vi" sz="1500">
                <a:solidFill>
                  <a:schemeClr val="dk1"/>
                </a:solidFill>
              </a:rPr>
              <a:t>: Data is fetched and streamed every 10 seconds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Topic +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5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Deployment phase</a:t>
            </a:r>
            <a:endParaRPr/>
          </a:p>
        </p:txBody>
      </p:sp>
      <p:sp>
        <p:nvSpPr>
          <p:cNvPr id="229" name="Google Shape;229;p55"/>
          <p:cNvSpPr txBox="1"/>
          <p:nvPr/>
        </p:nvSpPr>
        <p:spPr>
          <a:xfrm>
            <a:off x="270300" y="706175"/>
            <a:ext cx="8603400" cy="4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vi" sz="1800"/>
              <a:t>Include 3 phases:</a:t>
            </a:r>
            <a:endParaRPr b="1" sz="18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Phase 1 -  Planning and Data Acquisition:</a:t>
            </a:r>
            <a:r>
              <a:rPr lang="vi" sz="1500">
                <a:solidFill>
                  <a:schemeClr val="dk1"/>
                </a:solidFill>
              </a:rPr>
              <a:t> Defined architecture, developed Python scripts to ensure stable data fetching.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Phase 2 - Docker Compose:</a:t>
            </a:r>
            <a:r>
              <a:rPr lang="vi" sz="1500">
                <a:solidFill>
                  <a:schemeClr val="dk1"/>
                </a:solidFill>
              </a:rPr>
              <a:t> Deployed the end-to-end pipeline in Docker to verify component connectivity (networking, volumes) in a more simplified environment.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vi" sz="1500">
                <a:solidFill>
                  <a:schemeClr val="dk1"/>
                </a:solidFill>
              </a:rPr>
              <a:t>Phase 3 - Kubernetes Migration:</a:t>
            </a:r>
            <a:r>
              <a:rPr lang="vi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vi" sz="1500">
                <a:solidFill>
                  <a:schemeClr val="dk1"/>
                </a:solidFill>
              </a:rPr>
              <a:t>Converted pipeline to K8s environment. 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vi" sz="1500">
                <a:solidFill>
                  <a:schemeClr val="dk1"/>
                </a:solidFill>
              </a:rPr>
              <a:t>Deployed StatefulSets for stateful components (HDFS, InfluxDB, Mongo).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vi" sz="1500">
                <a:solidFill>
                  <a:schemeClr val="dk1"/>
                </a:solidFill>
              </a:rPr>
              <a:t>Deployed Deployments for stateless compute (Spark jobs).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vi" sz="1500">
                <a:solidFill>
                  <a:schemeClr val="dk1"/>
                </a:solidFill>
              </a:rPr>
              <a:t>Deployed a simple Linear Regression model using collected data.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6"/>
          <p:cNvSpPr txBox="1"/>
          <p:nvPr/>
        </p:nvSpPr>
        <p:spPr>
          <a:xfrm>
            <a:off x="228600" y="706175"/>
            <a:ext cx="8686800" cy="3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Kafka implementation: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Ran in Kraft mode, removing Zookeeper dependency, which simplifies cluster management. The Kafka cluster contains: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1 controller pod: Manage the overall Kafka cluster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3 brokers pods: Store and streaming the data from </a:t>
            </a:r>
            <a:r>
              <a:rPr b="1" i="1" lang="vi" sz="1600">
                <a:solidFill>
                  <a:schemeClr val="dk1"/>
                </a:solidFill>
              </a:rPr>
              <a:t>producer.py.</a:t>
            </a:r>
            <a:endParaRPr b="1" i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Data is replicated through 3 brokers to ensure fault tolerance.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S</a:t>
            </a:r>
            <a:r>
              <a:rPr lang="vi" sz="1600">
                <a:solidFill>
                  <a:schemeClr val="dk1"/>
                </a:solidFill>
              </a:rPr>
              <a:t>cript </a:t>
            </a:r>
            <a:r>
              <a:rPr lang="vi" sz="1600" u="sng">
                <a:solidFill>
                  <a:schemeClr val="hlink"/>
                </a:solidFill>
                <a:hlinkClick r:id="rId4"/>
              </a:rPr>
              <a:t>producer.py</a:t>
            </a:r>
            <a:r>
              <a:rPr lang="vi" sz="1600">
                <a:solidFill>
                  <a:schemeClr val="dk1"/>
                </a:solidFill>
              </a:rPr>
              <a:t>: taking data from OpenWeather API to Kafka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35" name="Google Shape;235;p56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Detailed components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7" title="kafdropu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350" y="0"/>
            <a:ext cx="76419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8"/>
          <p:cNvSpPr txBox="1"/>
          <p:nvPr/>
        </p:nvSpPr>
        <p:spPr>
          <a:xfrm>
            <a:off x="228600" y="797850"/>
            <a:ext cx="86868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00"/>
              <a:t>Spark </a:t>
            </a:r>
            <a:r>
              <a:rPr b="1" lang="vi" sz="1800"/>
              <a:t>implementation</a:t>
            </a:r>
            <a:r>
              <a:rPr b="1" lang="vi" sz="1800"/>
              <a:t>: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/>
              <a:t>Spark-streaming-consumer Deployment (Speed layer)</a:t>
            </a:r>
            <a:r>
              <a:rPr lang="vi" sz="1600"/>
              <a:t>: Real-time processing (consuming weather data from Kafka topic). 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Write data from Kafka to</a:t>
            </a:r>
            <a:r>
              <a:rPr lang="vi" sz="1600"/>
              <a:t>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InfluxDB: Immediate write for real-time dashboards and monitoring.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HDFS: Persistence of raw data in </a:t>
            </a:r>
            <a:r>
              <a:rPr i="1" lang="vi" sz="1600"/>
              <a:t>parquet</a:t>
            </a:r>
            <a:r>
              <a:rPr lang="vi" sz="1600"/>
              <a:t> format for long-term storage.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vi" sz="1600"/>
              <a:t>Produce real-time log for easier management.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6" name="Google Shape;246;p58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9" title="spark streaming.png"/>
          <p:cNvPicPr preferRelativeResize="0"/>
          <p:nvPr/>
        </p:nvPicPr>
        <p:blipFill rotWithShape="1">
          <a:blip r:embed="rId3">
            <a:alphaModFix/>
          </a:blip>
          <a:srcRect b="0" l="-887" r="0" t="-8495"/>
          <a:stretch/>
        </p:blipFill>
        <p:spPr>
          <a:xfrm>
            <a:off x="150337" y="278875"/>
            <a:ext cx="8843326" cy="45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0"/>
          <p:cNvSpPr txBox="1"/>
          <p:nvPr/>
        </p:nvSpPr>
        <p:spPr>
          <a:xfrm>
            <a:off x="228600" y="740375"/>
            <a:ext cx="8686800" cy="42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>
                <a:solidFill>
                  <a:schemeClr val="dk1"/>
                </a:solidFill>
              </a:rPr>
              <a:t>Spark </a:t>
            </a:r>
            <a:r>
              <a:rPr b="1" lang="vi" sz="1800">
                <a:solidFill>
                  <a:schemeClr val="dk1"/>
                </a:solidFill>
              </a:rPr>
              <a:t>implementation</a:t>
            </a:r>
            <a:r>
              <a:rPr b="1" lang="vi" sz="1800">
                <a:solidFill>
                  <a:schemeClr val="dk1"/>
                </a:solidFill>
              </a:rPr>
              <a:t>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Spark-batch Deployment (Batch layer)</a:t>
            </a:r>
            <a:r>
              <a:rPr lang="vi" sz="1600">
                <a:solidFill>
                  <a:schemeClr val="dk1"/>
                </a:solidFill>
              </a:rPr>
              <a:t>: Responsible for data refinement and aggregation (write the de-duplicated + aggregated data from HDFS to MongoDB).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Is scheduled to execute </a:t>
            </a:r>
            <a:r>
              <a:rPr b="1" lang="vi" sz="1600">
                <a:solidFill>
                  <a:schemeClr val="dk1"/>
                </a:solidFill>
              </a:rPr>
              <a:t>every 3 hours.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Provide two batch views: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vi" sz="1600">
                <a:solidFill>
                  <a:schemeClr val="dk1"/>
                </a:solidFill>
              </a:rPr>
              <a:t>daily_summary: </a:t>
            </a:r>
            <a:r>
              <a:rPr lang="vi" sz="1600">
                <a:solidFill>
                  <a:schemeClr val="dk1"/>
                </a:solidFill>
              </a:rPr>
              <a:t>daily weather summary for each city.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vi" sz="1600">
                <a:solidFill>
                  <a:schemeClr val="dk1"/>
                </a:solidFill>
              </a:rPr>
              <a:t>city_summary: </a:t>
            </a:r>
            <a:r>
              <a:rPr lang="vi" sz="1600">
                <a:solidFill>
                  <a:schemeClr val="dk1"/>
                </a:solidFill>
              </a:rPr>
              <a:t>all-time weather summary for each city.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Write batch views to MongoDB.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257" name="Google Shape;257;p60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60"/>
          <p:cNvSpPr txBox="1"/>
          <p:nvPr/>
        </p:nvSpPr>
        <p:spPr>
          <a:xfrm>
            <a:off x="2241650" y="3224275"/>
            <a:ext cx="442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61" title="batch process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5376" y="103425"/>
            <a:ext cx="4273257" cy="452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61"/>
          <p:cNvSpPr txBox="1"/>
          <p:nvPr/>
        </p:nvSpPr>
        <p:spPr>
          <a:xfrm>
            <a:off x="3072000" y="46752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solidFill>
                  <a:schemeClr val="dk1"/>
                </a:solidFill>
              </a:rPr>
              <a:t>Spark Batch log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2"/>
          <p:cNvSpPr txBox="1"/>
          <p:nvPr/>
        </p:nvSpPr>
        <p:spPr>
          <a:xfrm>
            <a:off x="228600" y="613800"/>
            <a:ext cx="8686800" cy="39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Extra: Simple Linear Regression with Spark MLlib (Spark Job)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/>
              <a:t>Develop a </a:t>
            </a:r>
            <a:r>
              <a:rPr lang="vi" sz="1600"/>
              <a:t>s</a:t>
            </a:r>
            <a:r>
              <a:rPr lang="vi" sz="1600"/>
              <a:t>imple predictive model using linear regression </a:t>
            </a:r>
            <a:r>
              <a:rPr lang="vi" sz="1600"/>
              <a:t>to demonstrate Spark MLlib’s capabilities for predictive forecasting.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vi" sz="1600"/>
              <a:t>Independant variable: </a:t>
            </a:r>
            <a:r>
              <a:rPr lang="vi" sz="1600"/>
              <a:t>Temperature. 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b="1" lang="vi" sz="1600"/>
              <a:t>Dependant variable:</a:t>
            </a:r>
            <a:r>
              <a:rPr lang="vi" sz="1600"/>
              <a:t> humidity, wind_speed cloud_cover, visibility, air_pressure, air_pressure_sea_level, </a:t>
            </a:r>
            <a:r>
              <a:rPr lang="vi" sz="1600"/>
              <a:t>air_pressure_ground level</a:t>
            </a:r>
            <a:r>
              <a:rPr lang="vi" sz="1600"/>
              <a:t>, </a:t>
            </a:r>
            <a:r>
              <a:rPr lang="vi" sz="1600"/>
              <a:t>wind direction</a:t>
            </a:r>
            <a:r>
              <a:rPr lang="vi" sz="1600"/>
              <a:t>, rain.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Training workflow:</a:t>
            </a:r>
            <a:endParaRPr b="1"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Loads data  from HDFS.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Cleans data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Time-based train-test splitting (80/20) and scaling (StandardScaler)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Training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Measures performance via standard metrics (RMSE, R</a:t>
            </a:r>
            <a:r>
              <a:rPr baseline="30000" lang="vi" sz="1600"/>
              <a:t>2</a:t>
            </a:r>
            <a:r>
              <a:rPr lang="vi" sz="1600"/>
              <a:t>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Note: </a:t>
            </a:r>
            <a:r>
              <a:rPr lang="vi" sz="1600"/>
              <a:t>This model is for </a:t>
            </a:r>
            <a:r>
              <a:rPr b="1" i="1" lang="vi" sz="1600"/>
              <a:t>educational use only</a:t>
            </a:r>
            <a:r>
              <a:rPr lang="vi" sz="1600"/>
              <a:t> and requires </a:t>
            </a:r>
            <a:r>
              <a:rPr b="1" i="1" lang="vi" sz="1600"/>
              <a:t>further development</a:t>
            </a:r>
            <a:r>
              <a:rPr lang="vi" sz="1600"/>
              <a:t> for </a:t>
            </a:r>
            <a:r>
              <a:rPr lang="vi" sz="1600"/>
              <a:t>notable results</a:t>
            </a:r>
            <a:r>
              <a:rPr lang="vi" sz="1600"/>
              <a:t>.</a:t>
            </a:r>
            <a:endParaRPr sz="1600"/>
          </a:p>
        </p:txBody>
      </p:sp>
      <p:sp>
        <p:nvSpPr>
          <p:cNvPr id="270" name="Google Shape;270;p62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3"/>
          <p:cNvSpPr txBox="1"/>
          <p:nvPr/>
        </p:nvSpPr>
        <p:spPr>
          <a:xfrm>
            <a:off x="228600" y="635000"/>
            <a:ext cx="8686800" cy="3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InfluxDB</a:t>
            </a:r>
            <a:r>
              <a:rPr b="1" lang="vi" sz="1600"/>
              <a:t>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/>
              <a:t>Role: </a:t>
            </a:r>
            <a:r>
              <a:rPr lang="vi" sz="1600"/>
              <a:t>Time series database for the Speed Layer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/>
              <a:t>Implemented as</a:t>
            </a:r>
            <a:r>
              <a:rPr b="1" lang="vi" sz="1600"/>
              <a:t> </a:t>
            </a:r>
            <a:r>
              <a:rPr lang="vi" sz="1600"/>
              <a:t>a StatefulSet: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/>
              <a:t>5Gi </a:t>
            </a:r>
            <a:r>
              <a:rPr i="1" lang="vi" sz="1600"/>
              <a:t>PersistentVolumeClaim</a:t>
            </a:r>
            <a:r>
              <a:rPr lang="vi" sz="1600"/>
              <a:t> (PVC) to prevent data loss during pod restarts.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vi" sz="1600"/>
              <a:t>Configuration: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Secret</a:t>
            </a:r>
            <a:r>
              <a:rPr lang="vi" sz="1600"/>
              <a:t>: Contains API Tokens, username, passwords, …</a:t>
            </a:r>
            <a:endParaRPr sz="1600"/>
          </a:p>
        </p:txBody>
      </p:sp>
      <p:sp>
        <p:nvSpPr>
          <p:cNvPr id="276" name="Google Shape;276;p63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4"/>
          <p:cNvSpPr txBox="1"/>
          <p:nvPr/>
        </p:nvSpPr>
        <p:spPr>
          <a:xfrm>
            <a:off x="228600" y="596575"/>
            <a:ext cx="8686800" cy="1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5"/>
          <p:cNvSpPr txBox="1"/>
          <p:nvPr/>
        </p:nvSpPr>
        <p:spPr>
          <a:xfrm>
            <a:off x="228600" y="604750"/>
            <a:ext cx="8686800" cy="39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Grafana</a:t>
            </a:r>
            <a:r>
              <a:rPr b="1" lang="vi" sz="1600"/>
              <a:t>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Role: Providing real-time data visualization for specific cities.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Implemented as a deployment.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Configuration: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ConfigMap: Configuration link to InfluxDB using internal cluster DNS (</a:t>
            </a:r>
            <a:r>
              <a:rPr lang="vi" sz="1600" u="sng">
                <a:solidFill>
                  <a:schemeClr val="hlink"/>
                </a:solidFill>
                <a:hlinkClick r:id="rId3"/>
              </a:rPr>
              <a:t>http://influxdb.bigdata.svc.cluster.local:8086</a:t>
            </a:r>
            <a:r>
              <a:rPr lang="vi" sz="1600">
                <a:solidFill>
                  <a:schemeClr val="dk1"/>
                </a:solidFill>
              </a:rPr>
              <a:t>).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Secret: UI login information (admin username/password)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7" name="Google Shape;287;p65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4000"/>
            <a:ext cx="8839199" cy="3002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7"/>
          <p:cNvSpPr txBox="1"/>
          <p:nvPr/>
        </p:nvSpPr>
        <p:spPr>
          <a:xfrm>
            <a:off x="327850" y="822150"/>
            <a:ext cx="8686800" cy="3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HDFS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vi" sz="1600"/>
              <a:t>Role: The primary storage for batch layer, hosting raw .parquet files for historical processing and ML training.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vi" sz="1600"/>
              <a:t>Implemented as Statefulsets: 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NameNode (1 replica): Manages metadata and filesystem namespace.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vi" sz="1600"/>
              <a:t>DataNodes (2 replicas): Each node requests a 10GB PVC for physical data blocks.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/>
              <a:t>Data is replicated in two nodes for fault tolerance.</a:t>
            </a:r>
            <a:endParaRPr sz="1600"/>
          </a:p>
        </p:txBody>
      </p:sp>
      <p:sp>
        <p:nvSpPr>
          <p:cNvPr id="298" name="Google Shape;298;p67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8"/>
          <p:cNvSpPr txBox="1"/>
          <p:nvPr/>
        </p:nvSpPr>
        <p:spPr>
          <a:xfrm>
            <a:off x="2973750" y="45984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solidFill>
                  <a:schemeClr val="dk1"/>
                </a:solidFill>
              </a:rPr>
              <a:t>HDFS Namenode UI</a:t>
            </a:r>
            <a:endParaRPr/>
          </a:p>
        </p:txBody>
      </p:sp>
      <p:pic>
        <p:nvPicPr>
          <p:cNvPr id="304" name="Google Shape;304;p68" title="hdfs_u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454" y="0"/>
            <a:ext cx="6058584" cy="453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9"/>
          <p:cNvSpPr txBox="1"/>
          <p:nvPr/>
        </p:nvSpPr>
        <p:spPr>
          <a:xfrm>
            <a:off x="406200" y="915300"/>
            <a:ext cx="8331600" cy="3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YARN configuration: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vi" sz="1600"/>
              <a:t>Role: Acts as the cluster manager, responsible for arbitrating resources and scheduling jobs across the Hadoop ecosystem.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YARN is deployed through 2 deployments: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resourcemanager: overall HDFS cluster resource management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nodemanager: resource management for each node in HDFS cluster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YARN is  configured with the activated `default` queue and is allocated 100% of the cluster resources for simplification.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0" name="Google Shape;310;p69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0"/>
          <p:cNvSpPr txBox="1"/>
          <p:nvPr/>
        </p:nvSpPr>
        <p:spPr>
          <a:xfrm>
            <a:off x="228600" y="740375"/>
            <a:ext cx="86868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MongoDB</a:t>
            </a:r>
            <a:r>
              <a:rPr b="1" lang="vi" sz="1600"/>
              <a:t>: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Role: Storing structured, pre-calculated aggregated views.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Implemented as a Statefulset: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Bound to a 5Gi PersistentVolumeClaim (PVC) to ensure aggregated insights survive after pod restarts.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vi" sz="1600">
                <a:solidFill>
                  <a:schemeClr val="dk1"/>
                </a:solidFill>
              </a:rPr>
              <a:t>Data structure (weather_db):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city_summary: Statistical aggregates for each c</a:t>
            </a:r>
            <a:r>
              <a:rPr lang="vi" sz="1600">
                <a:solidFill>
                  <a:schemeClr val="dk1"/>
                </a:solidFill>
              </a:rPr>
              <a:t>ity</a:t>
            </a:r>
            <a:r>
              <a:rPr lang="vi" sz="1600">
                <a:solidFill>
                  <a:schemeClr val="dk1"/>
                </a:solidFill>
              </a:rPr>
              <a:t> (Avg/Min/Max temperature, total rainfall).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vi" sz="1600">
                <a:solidFill>
                  <a:schemeClr val="dk1"/>
                </a:solidFill>
              </a:rPr>
              <a:t>daily_summary: Historical daily statistics for each city.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6" name="Google Shape;316;p70"/>
          <p:cNvSpPr txBox="1"/>
          <p:nvPr>
            <p:ph type="title"/>
          </p:nvPr>
        </p:nvSpPr>
        <p:spPr>
          <a:xfrm>
            <a:off x="228600" y="114575"/>
            <a:ext cx="82293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Detailed components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2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Lesson Learned</a:t>
            </a:r>
            <a:endParaRPr/>
          </a:p>
        </p:txBody>
      </p:sp>
      <p:sp>
        <p:nvSpPr>
          <p:cNvPr id="326" name="Google Shape;326;p72"/>
          <p:cNvSpPr txBox="1"/>
          <p:nvPr/>
        </p:nvSpPr>
        <p:spPr>
          <a:xfrm>
            <a:off x="0" y="593150"/>
            <a:ext cx="9144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vi" sz="1600"/>
              <a:t>Lesson on Data Ingestion:</a:t>
            </a:r>
            <a:endParaRPr b="1" i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Problem</a:t>
            </a:r>
            <a:r>
              <a:rPr lang="vi" sz="1600">
                <a:solidFill>
                  <a:schemeClr val="dk1"/>
                </a:solidFill>
              </a:rPr>
              <a:t>: No logs to track the data streaming through pipeline =&gt; hard to debug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Solution</a:t>
            </a:r>
            <a:r>
              <a:rPr lang="vi" sz="1600">
                <a:solidFill>
                  <a:schemeClr val="dk1"/>
                </a:solidFill>
              </a:rPr>
              <a:t>: Logs are announced in every pod for better management.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Lesson learned</a:t>
            </a:r>
            <a:r>
              <a:rPr lang="vi" sz="1600">
                <a:solidFill>
                  <a:schemeClr val="dk1"/>
                </a:solidFill>
              </a:rPr>
              <a:t>: Always implement logging within pods to ensure observability and error handling.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Lesson</a:t>
            </a:r>
            <a:r>
              <a:rPr b="1" lang="vi" sz="1600"/>
              <a:t> on Data Processing with Spark: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Problem</a:t>
            </a:r>
            <a:r>
              <a:rPr lang="vi" sz="1600">
                <a:solidFill>
                  <a:schemeClr val="dk1"/>
                </a:solidFill>
              </a:rPr>
              <a:t>: The Spark Streaming job monopolized cluster resources (CPU/RAM) by default, causing the Batch job to stay in a Pending state indefinitely due to starvation.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Solution</a:t>
            </a:r>
            <a:r>
              <a:rPr lang="vi" sz="1600">
                <a:solidFill>
                  <a:schemeClr val="dk1"/>
                </a:solidFill>
              </a:rPr>
              <a:t>: Strict resource allocation (e.g., 0.5 CPU for Spark Streaming job) for both jobs.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Lesson learned</a:t>
            </a:r>
            <a:r>
              <a:rPr lang="vi" sz="1600">
                <a:solidFill>
                  <a:schemeClr val="dk1"/>
                </a:solidFill>
              </a:rPr>
              <a:t>: In shared Kubernetes environments, defining resource limits is critical to avoid pipeline freezing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3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Lesson Learned</a:t>
            </a:r>
            <a:endParaRPr/>
          </a:p>
        </p:txBody>
      </p:sp>
      <p:sp>
        <p:nvSpPr>
          <p:cNvPr id="332" name="Google Shape;332;p73"/>
          <p:cNvSpPr txBox="1"/>
          <p:nvPr/>
        </p:nvSpPr>
        <p:spPr>
          <a:xfrm>
            <a:off x="26550" y="555500"/>
            <a:ext cx="90909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Lesson on Data Storage: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Problem</a:t>
            </a:r>
            <a:r>
              <a:rPr lang="vi" sz="1600"/>
              <a:t>: Find a data storage to ensure data durability and availability,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Solution</a:t>
            </a:r>
            <a:r>
              <a:rPr lang="vi" sz="1600"/>
              <a:t>: Deployed HDFS NameNode and  2 DataNodes with PersistentVolumeClaims (PVCs) to guarantee data persistence.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vi" sz="1600"/>
              <a:t>Lesson learned</a:t>
            </a:r>
            <a:r>
              <a:rPr lang="vi" sz="1600"/>
              <a:t>: Using HDFS with 2 datanodes can ensure the durability and availability of our data storage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Lesson on Monitoring and Debugging: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Problem</a:t>
            </a:r>
            <a:r>
              <a:rPr lang="vi" sz="1600">
                <a:solidFill>
                  <a:schemeClr val="dk1"/>
                </a:solidFill>
              </a:rPr>
              <a:t>: K8s has a complex infrastructure =&gt; hard to resolve errors between components.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Solution</a:t>
            </a:r>
            <a:r>
              <a:rPr lang="vi" sz="1600">
                <a:solidFill>
                  <a:schemeClr val="dk1"/>
                </a:solidFill>
              </a:rPr>
              <a:t>: Deploy </a:t>
            </a:r>
            <a:r>
              <a:rPr b="1" lang="vi" sz="1600">
                <a:solidFill>
                  <a:schemeClr val="dk1"/>
                </a:solidFill>
              </a:rPr>
              <a:t>end-to-end in Docker first</a:t>
            </a:r>
            <a:r>
              <a:rPr lang="vi" sz="1600">
                <a:solidFill>
                  <a:schemeClr val="dk1"/>
                </a:solidFill>
              </a:rPr>
              <a:t> to ensure components’ connections, then </a:t>
            </a:r>
            <a:r>
              <a:rPr b="1" lang="vi" sz="1600">
                <a:solidFill>
                  <a:schemeClr val="dk1"/>
                </a:solidFill>
              </a:rPr>
              <a:t>migrate into K8s.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Lesson learned</a:t>
            </a:r>
            <a:r>
              <a:rPr lang="vi" sz="1600">
                <a:solidFill>
                  <a:schemeClr val="dk1"/>
                </a:solidFill>
              </a:rPr>
              <a:t>: Start simple. Use Docker Compose as a local integration test environment to resolve logic/network issues before tackling Kubernetes infrastructure complexity.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74"/>
          <p:cNvSpPr txBox="1"/>
          <p:nvPr>
            <p:ph type="title"/>
          </p:nvPr>
        </p:nvSpPr>
        <p:spPr>
          <a:xfrm>
            <a:off x="228510" y="-152425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2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Lesson Learned</a:t>
            </a:r>
            <a:endParaRPr/>
          </a:p>
        </p:txBody>
      </p:sp>
      <p:sp>
        <p:nvSpPr>
          <p:cNvPr id="338" name="Google Shape;338;p74"/>
          <p:cNvSpPr txBox="1"/>
          <p:nvPr/>
        </p:nvSpPr>
        <p:spPr>
          <a:xfrm>
            <a:off x="0" y="563150"/>
            <a:ext cx="91440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Lesson on Security and Governance: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Problem:</a:t>
            </a:r>
            <a:r>
              <a:rPr lang="vi" sz="1600">
                <a:solidFill>
                  <a:schemeClr val="dk1"/>
                </a:solidFill>
              </a:rPr>
              <a:t> Managing sensitive credentials (API tokens, DB passwords) via plain text exposed security risks in a shared cluster.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Solution:</a:t>
            </a:r>
            <a:r>
              <a:rPr lang="vi" sz="1600">
                <a:solidFill>
                  <a:schemeClr val="dk1"/>
                </a:solidFill>
              </a:rPr>
              <a:t> K8s has 2 concepts: Non-sensitive data =&gt; </a:t>
            </a:r>
            <a:r>
              <a:rPr b="1" lang="vi" sz="1600">
                <a:solidFill>
                  <a:schemeClr val="dk1"/>
                </a:solidFill>
              </a:rPr>
              <a:t>ConfigMaps</a:t>
            </a:r>
            <a:r>
              <a:rPr lang="vi" sz="1600">
                <a:solidFill>
                  <a:schemeClr val="dk1"/>
                </a:solidFill>
              </a:rPr>
              <a:t>, sensitive credentials =&gt; </a:t>
            </a:r>
            <a:r>
              <a:rPr b="1" lang="vi" sz="1600">
                <a:solidFill>
                  <a:schemeClr val="dk1"/>
                </a:solidFill>
              </a:rPr>
              <a:t>Kubernetes Secrets</a:t>
            </a:r>
            <a:r>
              <a:rPr lang="vi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Lesson learned:</a:t>
            </a:r>
            <a:r>
              <a:rPr lang="vi" sz="1600">
                <a:solidFill>
                  <a:schemeClr val="dk1"/>
                </a:solidFill>
              </a:rPr>
              <a:t> Kubernetes Secrets provide a standard mechanism to inject sensitive data =&gt; good for production.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600"/>
              <a:t>Lesson on Fault Tolerance: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Problem:</a:t>
            </a:r>
            <a:r>
              <a:rPr lang="vi" sz="1600">
                <a:solidFill>
                  <a:schemeClr val="dk1"/>
                </a:solidFill>
              </a:rPr>
              <a:t> Restarting the InfluxDB pod wiped data, and a single Kafka broker failure freeze the pipeline.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Solution:</a:t>
            </a:r>
            <a:r>
              <a:rPr lang="vi" sz="1600">
                <a:solidFill>
                  <a:schemeClr val="dk1"/>
                </a:solidFill>
              </a:rPr>
              <a:t> Implemented </a:t>
            </a:r>
            <a:r>
              <a:rPr b="1" lang="vi" sz="1600">
                <a:solidFill>
                  <a:schemeClr val="dk1"/>
                </a:solidFill>
              </a:rPr>
              <a:t>StatefulSets with PVCs</a:t>
            </a:r>
            <a:r>
              <a:rPr lang="vi" sz="1600">
                <a:solidFill>
                  <a:schemeClr val="dk1"/>
                </a:solidFill>
              </a:rPr>
              <a:t> for InfluxDB and a </a:t>
            </a:r>
            <a:r>
              <a:rPr b="1" lang="vi" sz="1600">
                <a:solidFill>
                  <a:schemeClr val="dk1"/>
                </a:solidFill>
              </a:rPr>
              <a:t>3-node replica brokers </a:t>
            </a:r>
            <a:r>
              <a:rPr lang="vi" sz="1600">
                <a:solidFill>
                  <a:schemeClr val="dk1"/>
                </a:solidFill>
              </a:rPr>
              <a:t>for Kafka.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vi" sz="1600">
                <a:solidFill>
                  <a:schemeClr val="dk1"/>
                </a:solidFill>
              </a:rPr>
              <a:t>Lesson learned:</a:t>
            </a:r>
            <a:r>
              <a:rPr lang="vi" sz="1600">
                <a:solidFill>
                  <a:schemeClr val="dk1"/>
                </a:solidFill>
              </a:rPr>
              <a:t> Always design for failure at both the storage level (persistent volumes) and service level (replication) to ensure the system has fault tolerance.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5"/>
          <p:cNvSpPr txBox="1"/>
          <p:nvPr>
            <p:ph type="title"/>
          </p:nvPr>
        </p:nvSpPr>
        <p:spPr>
          <a:xfrm>
            <a:off x="457360" y="179965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vi" sz="4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5. Live Demo </a:t>
            </a:r>
            <a:endParaRPr sz="3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6"/>
          <p:cNvSpPr/>
          <p:nvPr/>
        </p:nvSpPr>
        <p:spPr>
          <a:xfrm>
            <a:off x="4317300" y="2118150"/>
            <a:ext cx="3852360" cy="728190"/>
          </a:xfrm>
          <a:prstGeom prst="rect">
            <a:avLst/>
          </a:prstGeom>
          <a:noFill/>
          <a:ln>
            <a:noFill/>
          </a:ln>
        </p:spPr>
        <p:txBody>
          <a:bodyPr anchorCtr="0" anchor="t" bIns="33750" lIns="67500" spcFirstLastPara="1" rIns="67500" wrap="square" tIns="337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vi" sz="45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